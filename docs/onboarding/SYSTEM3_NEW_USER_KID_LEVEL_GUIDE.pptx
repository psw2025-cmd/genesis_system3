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D3EE"/>
                </a:solidFill>
                <a:latin typeface="Aptos"/>
              </a:rPr>
              <a:t>GENESIS SYSTEM3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67665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3F7FC"/>
                </a:solidFill>
                <a:latin typeface="Aptos"/>
              </a:rPr>
              <a:t>The kid-simple
new user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770632"/>
            <a:ext cx="6217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A7B8CC"/>
                </a:solidFill>
                <a:latin typeface="Aptos"/>
              </a:rPr>
              <a:t>See data. Think carefully. Practice on paper. Prove what happened.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777240"/>
            <a:ext cx="3840480" cy="1078992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35240" y="777240"/>
            <a:ext cx="64008" cy="1078992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99831" y="94183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8CFF"/>
                </a:solidFill>
                <a:latin typeface="Aptos"/>
              </a:rPr>
              <a:t>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7031" y="941832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1 • LOOK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399032"/>
            <a:ext cx="34015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7B8CC"/>
                </a:solidFill>
                <a:latin typeface="Aptos"/>
              </a:rPr>
              <a:t>Fresh market and system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011680"/>
            <a:ext cx="3840480" cy="1078992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5240" y="2011680"/>
            <a:ext cx="64008" cy="1078992"/>
          </a:xfrm>
          <a:prstGeom prst="rect">
            <a:avLst/>
          </a:prstGeom>
          <a:solidFill>
            <a:srgbClr val="20D3EE"/>
          </a:solidFill>
          <a:ln>
            <a:solidFill>
              <a:srgbClr val="20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9831" y="217627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0D3EE"/>
                </a:solidFill>
                <a:latin typeface="Aptos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176272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2 • THINK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33472"/>
            <a:ext cx="34015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7B8CC"/>
                </a:solidFill>
                <a:latin typeface="Aptos"/>
              </a:rPr>
              <a:t>Signals, models and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3246120"/>
            <a:ext cx="3840480" cy="1078992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3246120"/>
            <a:ext cx="64008" cy="1078992"/>
          </a:xfrm>
          <a:prstGeom prst="rect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9831" y="341071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A524"/>
                </a:solidFill>
                <a:latin typeface="Aptos"/>
              </a:rPr>
              <a:t>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3410712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3 • PRACTICE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67911"/>
            <a:ext cx="34015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7B8CC"/>
                </a:solidFill>
                <a:latin typeface="Aptos"/>
              </a:rPr>
              <a:t>Paper trades only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4480560"/>
            <a:ext cx="3840480" cy="1078992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5240" y="4480560"/>
            <a:ext cx="64008" cy="1078992"/>
          </a:xfrm>
          <a:prstGeom prst="rect">
            <a:avLst/>
          </a:prstGeom>
          <a:solidFill>
            <a:srgbClr val="18D782"/>
          </a:solidFill>
          <a:ln>
            <a:solidFill>
              <a:srgbClr val="18D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9831" y="464515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8D782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4645152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4 • PROVE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102352"/>
            <a:ext cx="34015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7B8CC"/>
                </a:solidFill>
                <a:latin typeface="Aptos"/>
              </a:rPr>
              <a:t>UI + API + time + lineage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9893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3F7FC"/>
                </a:solidFill>
                <a:latin typeface="Aptos"/>
              </a:rPr>
              <a:t>For viewers • paper operators • analysts • developers • maintainers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35508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7B8CC"/>
                </a:solidFill>
                <a:latin typeface="Aptos"/>
              </a:rPr>
              <a:t>2026-08-27 • Educational, not live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0D3EE"/>
                </a:solidFill>
                <a:latin typeface="Aptos"/>
              </a:rPr>
              <a:t>SYSTEM3 • NEW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3F7FC"/>
                </a:solidFill>
                <a:latin typeface="Aptos"/>
              </a:rPr>
              <a:t>The one-sentence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8CC"/>
                </a:solidFill>
                <a:latin typeface="Aptos"/>
              </a:rPr>
              <a:t>Educational guide • generated 2026-08-27 • not proof of current runtime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647395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8D782"/>
                </a:solidFill>
                <a:latin typeface="Aptos"/>
              </a:rPr>
              <a:t>LIVE OFF • PAPER / ANALYZE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3F7FC"/>
                </a:solidFill>
                <a:latin typeface="Aptos"/>
              </a:rPr>
              <a:t>System3 is a careful market-science robot.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A7B8CC"/>
                </a:solidFill>
                <a:latin typeface="Aptos"/>
              </a:rPr>
              <a:t>It watches real information, makes explainable guesses, practices with pretend money, and checks whether those guesses were right.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749039"/>
            <a:ext cx="3063240" cy="114300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3749039"/>
            <a:ext cx="64008" cy="1143000"/>
          </a:xfrm>
          <a:prstGeom prst="rect">
            <a:avLst/>
          </a:prstGeom>
          <a:solidFill>
            <a:srgbClr val="18D782"/>
          </a:solidFill>
          <a:ln>
            <a:solidFill>
              <a:srgbClr val="18D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3913631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8D782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3913631"/>
            <a:ext cx="22768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It 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370831"/>
            <a:ext cx="2624328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7B8CC"/>
                </a:solidFill>
                <a:latin typeface="Aptos"/>
              </a:rPr>
              <a:t>Analyzer • paper lab • proof 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3749039"/>
            <a:ext cx="3063240" cy="114300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3749039"/>
            <a:ext cx="64008" cy="1143000"/>
          </a:xfrm>
          <a:prstGeom prst="rect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3913631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A524"/>
                </a:solidFill>
                <a:latin typeface="Aptos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8072" y="3913631"/>
            <a:ext cx="22768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It IS NOT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370831"/>
            <a:ext cx="2624328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7B8CC"/>
                </a:solidFill>
                <a:latin typeface="Aptos"/>
              </a:rPr>
              <a:t>A promise of profit or a magic crystal ball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749039"/>
            <a:ext cx="3063240" cy="114300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3749039"/>
            <a:ext cx="64008" cy="1143000"/>
          </a:xfrm>
          <a:prstGeom prst="rect">
            <a:avLst/>
          </a:prstGeom>
          <a:solidFill>
            <a:srgbClr val="FF4964"/>
          </a:solidFill>
          <a:ln>
            <a:solidFill>
              <a:srgbClr val="FF4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1" y="3913631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4964"/>
                </a:solidFill>
                <a:latin typeface="Aptos"/>
              </a:rPr>
              <a:t>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4232" y="3913631"/>
            <a:ext cx="22768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It MUST NOT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370831"/>
            <a:ext cx="2624328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7B8CC"/>
                </a:solidFill>
                <a:latin typeface="Aptos"/>
              </a:rPr>
              <a:t>Place, change, cancel, or close real orders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0D3EE"/>
                </a:solidFill>
                <a:latin typeface="Aptos"/>
              </a:rPr>
              <a:t>SYSTEM3 • NEW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3F7FC"/>
                </a:solidFill>
                <a:latin typeface="Aptos"/>
              </a:rPr>
              <a:t>The four safety 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8CC"/>
                </a:solidFill>
                <a:latin typeface="Aptos"/>
              </a:rPr>
              <a:t>Educational guide • generated 2026-08-27 • not proof of current runtime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647395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8D782"/>
                </a:solidFill>
                <a:latin typeface="Aptos"/>
              </a:rPr>
              <a:t>LIVE OFF • PAPER / ANALYZE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25880"/>
            <a:ext cx="5230368" cy="1417320"/>
          </a:xfrm>
          <a:prstGeom prst="roundRect">
            <a:avLst/>
          </a:prstGeom>
          <a:solidFill>
            <a:srgbClr val="0F1F31"/>
          </a:solidFill>
          <a:ln>
            <a:solidFill>
              <a:srgbClr val="18D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27048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D782"/>
                </a:solidFill>
                <a:latin typeface="Aptos"/>
              </a:rPr>
              <a:t>LOCKED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56231"/>
            <a:ext cx="3840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ANALYZE_MODE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8888" y="1764792"/>
            <a:ext cx="685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600" b="1">
                <a:solidFill>
                  <a:srgbClr val="18D782"/>
                </a:solidFill>
                <a:latin typeface="Aptos"/>
              </a:rPr>
              <a:t>=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325880"/>
            <a:ext cx="5230368" cy="1417320"/>
          </a:xfrm>
          <a:prstGeom prst="roundRect">
            <a:avLst/>
          </a:prstGeom>
          <a:solidFill>
            <a:srgbClr val="0F1F31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527048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B8CFF"/>
                </a:solidFill>
                <a:latin typeface="Aptos"/>
              </a:rPr>
              <a:t>LOCKED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856231"/>
            <a:ext cx="3840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LIVE_TRADING_ENABLED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42448" y="1764792"/>
            <a:ext cx="685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600" b="1">
                <a:solidFill>
                  <a:srgbClr val="3B8CFF"/>
                </a:solidFill>
                <a:latin typeface="Aptos"/>
              </a:rPr>
              <a:t>= 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154680"/>
            <a:ext cx="5230368" cy="1417320"/>
          </a:xfrm>
          <a:prstGeom prst="roundRect">
            <a:avLst/>
          </a:prstGeom>
          <a:solidFill>
            <a:srgbClr val="0F1F31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355848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B8CFF"/>
                </a:solidFill>
                <a:latin typeface="Aptos"/>
              </a:rPr>
              <a:t>LOCKED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685032"/>
            <a:ext cx="3840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SYSTEM3_LIVE_TRADING_ALLOWED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3593592"/>
            <a:ext cx="685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600" b="1">
                <a:solidFill>
                  <a:srgbClr val="3B8CFF"/>
                </a:solidFill>
                <a:latin typeface="Aptos"/>
              </a:rPr>
              <a:t>= 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3154680"/>
            <a:ext cx="5230368" cy="1417320"/>
          </a:xfrm>
          <a:prstGeom prst="roundRect">
            <a:avLst/>
          </a:prstGeom>
          <a:solidFill>
            <a:srgbClr val="0F1F31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3355848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B8CFF"/>
                </a:solidFill>
                <a:latin typeface="Aptos"/>
              </a:rPr>
              <a:t>LOCKED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685032"/>
            <a:ext cx="3840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AUTO_EXECUTE_TRADES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42448" y="3593592"/>
            <a:ext cx="685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600" b="1">
                <a:solidFill>
                  <a:srgbClr val="3B8CFF"/>
                </a:solidFill>
                <a:latin typeface="Aptos"/>
              </a:rPr>
              <a:t>=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23036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4964"/>
                </a:solidFill>
                <a:latin typeface="Aptos"/>
              </a:rPr>
              <a:t>If any LIVE/order lock changes, stop. Real-money actions need explicit human break-glass authority.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0D3EE"/>
                </a:solidFill>
                <a:latin typeface="Aptos"/>
              </a:rPr>
              <a:t>SYSTEM3 • NEW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3F7FC"/>
                </a:solidFill>
                <a:latin typeface="Aptos"/>
              </a:rPr>
              <a:t>The truth ladder: what counts as ‘now’?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8CC"/>
                </a:solidFill>
                <a:latin typeface="Aptos"/>
              </a:rPr>
              <a:t>Educational guide • generated 2026-08-27 • not proof of current runtime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647395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8D782"/>
                </a:solidFill>
                <a:latin typeface="Aptos"/>
              </a:rPr>
              <a:t>LIVE OFF • PAPER / ANALYZE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10652760" cy="59436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234440"/>
            <a:ext cx="566928" cy="594360"/>
          </a:xfrm>
          <a:prstGeom prst="roundRect">
            <a:avLst/>
          </a:prstGeom>
          <a:solidFill>
            <a:srgbClr val="18D782"/>
          </a:solidFill>
          <a:ln>
            <a:solidFill>
              <a:srgbClr val="18D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5669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7121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1344168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3F7FC"/>
                </a:solidFill>
                <a:latin typeface="Aptos"/>
              </a:rPr>
              <a:t>Fresh production 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344168"/>
            <a:ext cx="6172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New session after the request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84248"/>
            <a:ext cx="10652760" cy="59436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1984248"/>
            <a:ext cx="566928" cy="594360"/>
          </a:xfrm>
          <a:prstGeom prst="roundRect">
            <a:avLst/>
          </a:prstGeom>
          <a:solidFill>
            <a:srgbClr val="20D3EE"/>
          </a:solidFill>
          <a:ln>
            <a:solidFill>
              <a:srgbClr val="20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075688"/>
            <a:ext cx="5669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7121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093976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3F7FC"/>
                </a:solidFill>
                <a:latin typeface="Aptos"/>
              </a:rPr>
              <a:t>Same-session APIs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093976"/>
            <a:ext cx="6172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Values, source, time and errors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734056"/>
            <a:ext cx="10652760" cy="59436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2734056"/>
            <a:ext cx="566928" cy="594360"/>
          </a:xfrm>
          <a:prstGeom prst="round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825496"/>
            <a:ext cx="5669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7121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2843784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3F7FC"/>
                </a:solidFill>
                <a:latin typeface="Aptos"/>
              </a:rPr>
              <a:t>Runtime logs + metadata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843784"/>
            <a:ext cx="6172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Same observation window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483864"/>
            <a:ext cx="10652760" cy="59436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3483864"/>
            <a:ext cx="566928" cy="594360"/>
          </a:xfrm>
          <a:prstGeom prst="roundRect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575304"/>
            <a:ext cx="5669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7121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3593592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3F7FC"/>
                </a:solidFill>
                <a:latin typeface="Aptos"/>
              </a:rPr>
              <a:t>Serving revision / SHA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593592"/>
            <a:ext cx="6172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Exact deployed identity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233672"/>
            <a:ext cx="10652760" cy="59436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4233672"/>
            <a:ext cx="566928" cy="594360"/>
          </a:xfrm>
          <a:prstGeom prst="roundRect">
            <a:avLst/>
          </a:prstGeom>
          <a:solidFill>
            <a:srgbClr val="A7B8CC"/>
          </a:solidFill>
          <a:ln>
            <a:solidFill>
              <a:srgbClr val="A7B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325112"/>
            <a:ext cx="5669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7121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4343400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3F7FC"/>
                </a:solidFill>
                <a:latin typeface="Aptos"/>
              </a:rPr>
              <a:t>Source 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4343400"/>
            <a:ext cx="6172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What should happen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983479"/>
            <a:ext cx="10652760" cy="59436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77240" y="4983479"/>
            <a:ext cx="566928" cy="594360"/>
          </a:xfrm>
          <a:prstGeom prst="roundRect">
            <a:avLst/>
          </a:prstGeom>
          <a:solidFill>
            <a:srgbClr val="FF4964"/>
          </a:solidFill>
          <a:ln>
            <a:solidFill>
              <a:srgbClr val="FF4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074919"/>
            <a:ext cx="5669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7121F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36192" y="5093207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3F7FC"/>
                </a:solidFill>
                <a:latin typeface="Aptos"/>
              </a:rPr>
              <a:t>Stored reports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5093207"/>
            <a:ext cx="6172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History until freshly revalidated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0D3EE"/>
                </a:solidFill>
                <a:latin typeface="Aptos"/>
              </a:rPr>
              <a:t>SYSTEM3 • NEW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3F7FC"/>
                </a:solidFill>
                <a:latin typeface="Aptos"/>
              </a:rPr>
              <a:t>Who are you today?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8CC"/>
                </a:solidFill>
                <a:latin typeface="Aptos"/>
              </a:rPr>
              <a:t>Educational guide • generated 2026-08-27 • not proof of current runtime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647395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8D782"/>
                </a:solidFill>
                <a:latin typeface="Aptos"/>
              </a:rPr>
              <a:t>LIVE OFF • PAPER / ANALYZE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493008" cy="1664208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64008" cy="1664208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9047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8C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1490472"/>
            <a:ext cx="270662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VIEWER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47672"/>
            <a:ext cx="305409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Read cards, timestamps, sources and warnings
Boundary: No changes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1325880"/>
            <a:ext cx="3493008" cy="1664208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53128" y="1325880"/>
            <a:ext cx="64008" cy="1664208"/>
          </a:xfrm>
          <a:prstGeom prst="rect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49047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A524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1490472"/>
            <a:ext cx="2706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PAPER OPERATOR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1947672"/>
            <a:ext cx="305409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Run safe practice and daily checks
Boundary: Paper 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11896" y="1325880"/>
            <a:ext cx="3493008" cy="1664208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11896" y="1325880"/>
            <a:ext cx="64008" cy="1664208"/>
          </a:xfrm>
          <a:prstGeom prst="rect">
            <a:avLst/>
          </a:prstGeom>
          <a:solidFill>
            <a:srgbClr val="20D3EE"/>
          </a:solidFill>
          <a:ln>
            <a:solidFill>
              <a:srgbClr val="20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149047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0D3EE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1490472"/>
            <a:ext cx="2706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ANALYST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0496" y="1947672"/>
            <a:ext cx="305409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Study data, signals, risks and models
Boundary: Research only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383280"/>
            <a:ext cx="3493008" cy="1664208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383280"/>
            <a:ext cx="64008" cy="1664208"/>
          </a:xfrm>
          <a:prstGeom prst="rect">
            <a:avLst/>
          </a:prstGeom>
          <a:solidFill>
            <a:srgbClr val="18D782"/>
          </a:solidFill>
          <a:ln>
            <a:solidFill>
              <a:srgbClr val="18D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54787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8D782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547872"/>
            <a:ext cx="270662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DEVELOPER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005072"/>
            <a:ext cx="305409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Fix code and tests on a branch
Boundary: No production mutation by default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53128" y="3383280"/>
            <a:ext cx="3493008" cy="1664208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53128" y="3383280"/>
            <a:ext cx="64008" cy="166420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54787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855F7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547872"/>
            <a:ext cx="2706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MAINTAINER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1728" y="4005072"/>
            <a:ext cx="305409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CI, merge, deploy and fresh proof
Boundary: Only after gates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0D3EE"/>
                </a:solidFill>
                <a:latin typeface="Aptos"/>
              </a:rPr>
              <a:t>SYSTEM3 • NEW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3F7FC"/>
                </a:solidFill>
                <a:latin typeface="Aptos"/>
              </a:rPr>
              <a:t>Your first 10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8CC"/>
                </a:solidFill>
                <a:latin typeface="Aptos"/>
              </a:rPr>
              <a:t>Educational guide • generated 2026-08-27 • not proof of current runtime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647395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8D782"/>
                </a:solidFill>
                <a:latin typeface="Aptos"/>
              </a:rPr>
              <a:t>LIVE OFF • PAPER / ANALYZE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261872"/>
            <a:ext cx="10469880" cy="713232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261872"/>
            <a:ext cx="713232" cy="713232"/>
          </a:xfrm>
          <a:prstGeom prst="round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26463"/>
            <a:ext cx="7132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3F7FC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380743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Open the correct repo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380743"/>
            <a:ext cx="5349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C:\Users\ADMIN\Genesis_System3\Genesis_System3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157984"/>
            <a:ext cx="10469880" cy="713232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2157984"/>
            <a:ext cx="713232" cy="713232"/>
          </a:xfrm>
          <a:prstGeom prst="round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322576"/>
            <a:ext cx="7132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3F7FC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276856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Confirm the four locks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276856"/>
            <a:ext cx="5349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1 / 0 / 0 / 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054096"/>
            <a:ext cx="10469880" cy="713232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3054096"/>
            <a:ext cx="713232" cy="713232"/>
          </a:xfrm>
          <a:prstGeom prst="round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218688"/>
            <a:ext cx="7132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3F7FC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172968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Open the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3172968"/>
            <a:ext cx="5349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Production for viewing; local for development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3950208"/>
            <a:ext cx="10469880" cy="713232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3950208"/>
            <a:ext cx="713232" cy="713232"/>
          </a:xfrm>
          <a:prstGeom prst="round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114800"/>
            <a:ext cx="7132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3F7FC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069080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Read Overview + Truth + Gates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4069080"/>
            <a:ext cx="5349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Big picture, evidence, blockers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4846320"/>
            <a:ext cx="10469880" cy="713232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8680" y="4846320"/>
            <a:ext cx="713232" cy="713232"/>
          </a:xfrm>
          <a:prstGeom prst="round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010912"/>
            <a:ext cx="7132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3F7FC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4965192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Say what you know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965192"/>
            <a:ext cx="5349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Include capture time and evidence 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0D3EE"/>
                </a:solidFill>
                <a:latin typeface="Aptos"/>
              </a:rPr>
              <a:t>SYSTEM3 • NEW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3F7FC"/>
                </a:solidFill>
                <a:latin typeface="Aptos"/>
              </a:rPr>
              <a:t>The dashboard: 22 rooms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8CC"/>
                </a:solidFill>
                <a:latin typeface="Aptos"/>
              </a:rPr>
              <a:t>Educational guide • generated 2026-08-27 • not proof of current runtime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647395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8D782"/>
                </a:solidFill>
                <a:latin typeface="Aptos"/>
              </a:rPr>
              <a:t>LIVE OFF • PAPER / ANALYZE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25880"/>
            <a:ext cx="5230368" cy="1874519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25880"/>
            <a:ext cx="64008" cy="1874519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49047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8C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90472"/>
            <a:ext cx="44439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START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47672"/>
            <a:ext cx="4791456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7B8CC"/>
                </a:solidFill>
                <a:latin typeface="Aptos"/>
              </a:rPr>
              <a:t>Decision Intel • Truth • Genesis • E2E Proof • Overview • Live Simulation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325880"/>
            <a:ext cx="5230368" cy="1874519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81928" y="1325880"/>
            <a:ext cx="64008" cy="1874519"/>
          </a:xfrm>
          <a:prstGeom prst="rect">
            <a:avLst/>
          </a:prstGeom>
          <a:solidFill>
            <a:srgbClr val="20D3EE"/>
          </a:solidFill>
          <a:ln>
            <a:solidFill>
              <a:srgbClr val="20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9047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0D3EE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490472"/>
            <a:ext cx="44439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MARKET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1947672"/>
            <a:ext cx="4791456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7B8CC"/>
                </a:solidFill>
                <a:latin typeface="Aptos"/>
              </a:rPr>
              <a:t>Options Intel • Option Chain • Signals • Trade Plan • Paper Trading • Positions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566160"/>
            <a:ext cx="5230368" cy="1874519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566160"/>
            <a:ext cx="64008" cy="1874519"/>
          </a:xfrm>
          <a:prstGeom prst="rect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73075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A52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730752"/>
            <a:ext cx="44439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187952"/>
            <a:ext cx="4791456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7B8CC"/>
                </a:solidFill>
                <a:latin typeface="Aptos"/>
              </a:rPr>
              <a:t>Risk &amp; Scenarios • Multibagger Research • Prediction Audit • Performance • ML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1928" y="3566160"/>
            <a:ext cx="5230368" cy="1874519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81928" y="3566160"/>
            <a:ext cx="64008" cy="1874519"/>
          </a:xfrm>
          <a:prstGeom prst="rect">
            <a:avLst/>
          </a:prstGeom>
          <a:solidFill>
            <a:srgbClr val="18D782"/>
          </a:solidFill>
          <a:ln>
            <a:solidFill>
              <a:srgbClr val="18D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73075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8D782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730752"/>
            <a:ext cx="44439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187952"/>
            <a:ext cx="4791456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7B8CC"/>
                </a:solidFill>
                <a:latin typeface="Aptos"/>
              </a:rPr>
              <a:t>Data Integrity • Broker • Alerts • System • Gates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0D3EE"/>
                </a:solidFill>
                <a:latin typeface="Aptos"/>
              </a:rPr>
              <a:t>SYSTEM3 • NEW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3F7FC"/>
                </a:solidFill>
                <a:latin typeface="Aptos"/>
              </a:rPr>
              <a:t>Start-here rooms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8CC"/>
                </a:solidFill>
                <a:latin typeface="Aptos"/>
              </a:rPr>
              <a:t>Educational guide • generated 2026-08-27 • not proof of current runtime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647395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8D782"/>
                </a:solidFill>
                <a:latin typeface="Aptos"/>
              </a:rPr>
              <a:t>LIVE OFF • PAPER / ANALYZE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3493008" cy="169164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80160"/>
            <a:ext cx="64008" cy="1691640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44751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8C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1444751"/>
            <a:ext cx="270662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Decision Intel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01952"/>
            <a:ext cx="3054096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What is the system thinking—and why?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1280160"/>
            <a:ext cx="3493008" cy="169164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53128" y="1280160"/>
            <a:ext cx="64008" cy="1691640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444751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8C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1444751"/>
            <a:ext cx="2706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Truth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1901952"/>
            <a:ext cx="3054096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Are labels, sources and freshness honest?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11896" y="1280160"/>
            <a:ext cx="3493008" cy="169164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11896" y="1280160"/>
            <a:ext cx="64008" cy="1691640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1444751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8C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1444751"/>
            <a:ext cx="2706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Genesis Brain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0496" y="1901952"/>
            <a:ext cx="3054096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What model evidence exists or is WAITING?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429000"/>
            <a:ext cx="3493008" cy="169164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429000"/>
            <a:ext cx="64008" cy="1691640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59359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8C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593592"/>
            <a:ext cx="270662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E2E 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050791"/>
            <a:ext cx="3054096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Can we trace code → cloud → browser?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53128" y="3429000"/>
            <a:ext cx="3493008" cy="169164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53128" y="3429000"/>
            <a:ext cx="64008" cy="1691640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59359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8C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593592"/>
            <a:ext cx="2706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Overview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1728" y="4050791"/>
            <a:ext cx="3054096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What is the big picture?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11896" y="3429000"/>
            <a:ext cx="3493008" cy="169164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11896" y="3429000"/>
            <a:ext cx="64008" cy="1691640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76488" y="359359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8CFF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33688" y="3593592"/>
            <a:ext cx="2706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Live Simulation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0496" y="4050791"/>
            <a:ext cx="3054096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What happens in safe simulation?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0D3EE"/>
                </a:solidFill>
                <a:latin typeface="Aptos"/>
              </a:rPr>
              <a:t>SYSTEM3 • NEW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3F7FC"/>
                </a:solidFill>
                <a:latin typeface="Aptos"/>
              </a:rPr>
              <a:t>Market rooms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8CC"/>
                </a:solidFill>
                <a:latin typeface="Aptos"/>
              </a:rPr>
              <a:t>Educational guide • generated 2026-08-27 • not proof of current runtime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647395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8D782"/>
                </a:solidFill>
                <a:latin typeface="Aptos"/>
              </a:rPr>
              <a:t>LIVE OFF • PAPER / ANALYZE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3493008" cy="169164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80160"/>
            <a:ext cx="64008" cy="1691640"/>
          </a:xfrm>
          <a:prstGeom prst="rect">
            <a:avLst/>
          </a:prstGeom>
          <a:solidFill>
            <a:srgbClr val="20D3EE"/>
          </a:solidFill>
          <a:ln>
            <a:solidFill>
              <a:srgbClr val="20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44751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0D3EE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1444751"/>
            <a:ext cx="270662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Options Intel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01952"/>
            <a:ext cx="3054096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Compare opportunity 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1280160"/>
            <a:ext cx="3493008" cy="169164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53128" y="1280160"/>
            <a:ext cx="64008" cy="1691640"/>
          </a:xfrm>
          <a:prstGeom prst="rect">
            <a:avLst/>
          </a:prstGeom>
          <a:solidFill>
            <a:srgbClr val="20D3EE"/>
          </a:solidFill>
          <a:ln>
            <a:solidFill>
              <a:srgbClr val="20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444751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0D3EE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1444751"/>
            <a:ext cx="2706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Option 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1901952"/>
            <a:ext cx="3054096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Strikes, CE/PE, OI, volume, 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11896" y="1280160"/>
            <a:ext cx="3493008" cy="169164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11896" y="1280160"/>
            <a:ext cx="64008" cy="1691640"/>
          </a:xfrm>
          <a:prstGeom prst="rect">
            <a:avLst/>
          </a:prstGeom>
          <a:solidFill>
            <a:srgbClr val="20D3EE"/>
          </a:solidFill>
          <a:ln>
            <a:solidFill>
              <a:srgbClr val="20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1444751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0D3EE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1444751"/>
            <a:ext cx="2706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Signals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0496" y="1901952"/>
            <a:ext cx="3054096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Suggestion + reasons + blockers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429000"/>
            <a:ext cx="3493008" cy="169164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429000"/>
            <a:ext cx="64008" cy="1691640"/>
          </a:xfrm>
          <a:prstGeom prst="rect">
            <a:avLst/>
          </a:prstGeom>
          <a:solidFill>
            <a:srgbClr val="20D3EE"/>
          </a:solidFill>
          <a:ln>
            <a:solidFill>
              <a:srgbClr val="20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59359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0D3EE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593592"/>
            <a:ext cx="270662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Trade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050791"/>
            <a:ext cx="3054096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Plan only—no broker order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53128" y="3429000"/>
            <a:ext cx="3493008" cy="169164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53128" y="3429000"/>
            <a:ext cx="64008" cy="1691640"/>
          </a:xfrm>
          <a:prstGeom prst="rect">
            <a:avLst/>
          </a:prstGeom>
          <a:solidFill>
            <a:srgbClr val="20D3EE"/>
          </a:solidFill>
          <a:ln>
            <a:solidFill>
              <a:srgbClr val="20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59359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0D3EE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593592"/>
            <a:ext cx="2706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Paper Trading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1728" y="4050791"/>
            <a:ext cx="3054096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Pretend fills, ledger and P&amp;L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11896" y="3429000"/>
            <a:ext cx="3493008" cy="169164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11896" y="3429000"/>
            <a:ext cx="64008" cy="1691640"/>
          </a:xfrm>
          <a:prstGeom prst="rect">
            <a:avLst/>
          </a:prstGeom>
          <a:solidFill>
            <a:srgbClr val="20D3EE"/>
          </a:solidFill>
          <a:ln>
            <a:solidFill>
              <a:srgbClr val="20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76488" y="359359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0D3EE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33688" y="3593592"/>
            <a:ext cx="2706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Positions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0496" y="4050791"/>
            <a:ext cx="3054096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Dhan truth kept separate from paper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0D3EE"/>
                </a:solidFill>
                <a:latin typeface="Aptos"/>
              </a:rPr>
              <a:t>SYSTEM3 • NEW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3F7FC"/>
                </a:solidFill>
                <a:latin typeface="Aptos"/>
              </a:rPr>
              <a:t>Analysis + system rooms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8CC"/>
                </a:solidFill>
                <a:latin typeface="Aptos"/>
              </a:rPr>
              <a:t>Educational guide • generated 2026-08-27 • not proof of current runtime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647395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8D782"/>
                </a:solidFill>
                <a:latin typeface="Aptos"/>
              </a:rPr>
              <a:t>LIVE OFF • PAPER / ANALYZE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98448"/>
            <a:ext cx="5394960" cy="452628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98448"/>
            <a:ext cx="64008" cy="4526280"/>
          </a:xfrm>
          <a:prstGeom prst="rect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63039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A524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463039"/>
            <a:ext cx="46085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20240"/>
            <a:ext cx="4956048" cy="3776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7B8CC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201168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A524"/>
                </a:solidFill>
                <a:latin typeface="Aptos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1965960"/>
            <a:ext cx="4453128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3F7FC"/>
                </a:solidFill>
                <a:latin typeface="Aptos"/>
              </a:rPr>
              <a:t>Risk &amp; Scenarios — what could go wrong?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15184"/>
            <a:ext cx="201168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A524"/>
                </a:solidFill>
                <a:latin typeface="Aptos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2615184"/>
            <a:ext cx="4453128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3F7FC"/>
                </a:solidFill>
                <a:latin typeface="Aptos"/>
              </a:rPr>
              <a:t>Multibagger — long-horizon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264408"/>
            <a:ext cx="201168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A524"/>
                </a:solidFill>
                <a:latin typeface="Aptos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64408"/>
            <a:ext cx="4453128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3F7FC"/>
                </a:solidFill>
                <a:latin typeface="Aptos"/>
              </a:rPr>
              <a:t>Prediction Audit — guess before result?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13631"/>
            <a:ext cx="201168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A524"/>
                </a:solidFill>
                <a:latin typeface="Aptos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13631"/>
            <a:ext cx="4453128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3F7FC"/>
                </a:solidFill>
                <a:latin typeface="Aptos"/>
              </a:rPr>
              <a:t>Performance — costs, drawdown, expectancy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62856"/>
            <a:ext cx="201168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A524"/>
                </a:solidFill>
                <a:latin typeface="Aptos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562856"/>
            <a:ext cx="4453128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3F7FC"/>
                </a:solidFill>
                <a:latin typeface="Aptos"/>
              </a:rPr>
              <a:t>ML — drift, calibration,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298448"/>
            <a:ext cx="5394960" cy="452628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1298448"/>
            <a:ext cx="64008" cy="4526280"/>
          </a:xfrm>
          <a:prstGeom prst="rect">
            <a:avLst/>
          </a:prstGeom>
          <a:solidFill>
            <a:srgbClr val="18D782"/>
          </a:solidFill>
          <a:ln>
            <a:solidFill>
              <a:srgbClr val="18D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1463039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8D782"/>
                </a:solidFill>
                <a:latin typeface="Aptos"/>
              </a:rP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3992" y="1463039"/>
            <a:ext cx="46085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920240"/>
            <a:ext cx="4956048" cy="3776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7B8CC"/>
                </a:solidFill>
                <a:latin typeface="Apto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1965960"/>
            <a:ext cx="201168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D782"/>
                </a:solidFill>
                <a:latin typeface="Aptos"/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1965960"/>
            <a:ext cx="4453128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3F7FC"/>
                </a:solidFill>
                <a:latin typeface="Aptos"/>
              </a:rPr>
              <a:t>Data Integrity — real, fresh, complete?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615184"/>
            <a:ext cx="201168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D782"/>
                </a:solidFill>
                <a:latin typeface="Aptos"/>
              </a:rP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2615184"/>
            <a:ext cx="4453128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3F7FC"/>
                </a:solidFill>
                <a:latin typeface="Aptos"/>
              </a:rPr>
              <a:t>Broker — Dhan read-only status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264408"/>
            <a:ext cx="201168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D782"/>
                </a:solidFill>
                <a:latin typeface="Aptos"/>
              </a:rPr>
              <a:t>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8272" y="3264408"/>
            <a:ext cx="4453128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3F7FC"/>
                </a:solidFill>
                <a:latin typeface="Aptos"/>
              </a:rPr>
              <a:t>Alerts — deduplicated warnings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913631"/>
            <a:ext cx="201168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D782"/>
                </a:solidFill>
                <a:latin typeface="Aptos"/>
              </a:rPr>
              <a:t>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8272" y="3913631"/>
            <a:ext cx="4453128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3F7FC"/>
                </a:solidFill>
                <a:latin typeface="Aptos"/>
              </a:rPr>
              <a:t>System — services and 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562856"/>
            <a:ext cx="201168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D782"/>
                </a:solidFill>
                <a:latin typeface="Aptos"/>
              </a:rPr>
              <a:t>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8272" y="4562856"/>
            <a:ext cx="4453128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3F7FC"/>
                </a:solidFill>
                <a:latin typeface="Aptos"/>
              </a:rPr>
              <a:t>Gates — which locks block readiness?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0D3EE"/>
                </a:solidFill>
                <a:latin typeface="Aptos"/>
              </a:rPr>
              <a:t>SYSTEM3 • NEW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3F7FC"/>
                </a:solidFill>
                <a:latin typeface="Aptos"/>
              </a:rPr>
              <a:t>One safe daily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8CC"/>
                </a:solidFill>
                <a:latin typeface="Aptos"/>
              </a:rPr>
              <a:t>Educational guide • generated 2026-08-27 • not proof of current runtime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647395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8D782"/>
                </a:solidFill>
                <a:latin typeface="Aptos"/>
              </a:rPr>
              <a:t>LIVE OFF • PAPER / ANALYZE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514600" cy="2194560"/>
          </a:xfrm>
          <a:prstGeom prst="roundRect">
            <a:avLst/>
          </a:prstGeom>
          <a:solidFill>
            <a:srgbClr val="0F1F31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57400"/>
            <a:ext cx="438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B8C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084831"/>
            <a:ext cx="1508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2057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7B8CC"/>
                </a:solidFill>
                <a:latin typeface="Aptos"/>
              </a:rPr>
              <a:t>Locks → health → broker → data → gates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2606040"/>
            <a:ext cx="347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3F7FC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828800"/>
            <a:ext cx="2514600" cy="2194560"/>
          </a:xfrm>
          <a:prstGeom prst="roundRect">
            <a:avLst/>
          </a:prstGeom>
          <a:solidFill>
            <a:srgbClr val="0F1F31"/>
          </a:solidFill>
          <a:ln>
            <a:solidFill>
              <a:srgbClr val="20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7" y="2057400"/>
            <a:ext cx="438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0D3EE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2084831"/>
            <a:ext cx="1508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DURING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788920"/>
            <a:ext cx="2057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7B8CC"/>
                </a:solidFill>
                <a:latin typeface="Aptos"/>
              </a:rPr>
              <a:t>Watch freshness, errors, chain, signals and paper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7" y="2606040"/>
            <a:ext cx="347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3F7F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828800"/>
            <a:ext cx="2514600" cy="2194560"/>
          </a:xfrm>
          <a:prstGeom prst="roundRect">
            <a:avLst/>
          </a:prstGeom>
          <a:solidFill>
            <a:srgbClr val="0F1F31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2057400"/>
            <a:ext cx="438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5A524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8" y="2084831"/>
            <a:ext cx="1508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AFTER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788920"/>
            <a:ext cx="2057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7B8CC"/>
                </a:solidFill>
                <a:latin typeface="Aptos"/>
              </a:rPr>
              <a:t>Predictions → outcomes → costs → misses → verdict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3688" y="2606040"/>
            <a:ext cx="347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3F7FC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59" y="1828800"/>
            <a:ext cx="2514600" cy="2194560"/>
          </a:xfrm>
          <a:prstGeom prst="roundRect">
            <a:avLst/>
          </a:prstGeom>
          <a:solidFill>
            <a:srgbClr val="0F1F31"/>
          </a:solidFill>
          <a:ln>
            <a:solidFill>
              <a:srgbClr val="18D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82328" y="2057400"/>
            <a:ext cx="438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8D782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30967" y="2084831"/>
            <a:ext cx="1508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LEARN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59" y="2788920"/>
            <a:ext cx="2057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7B8CC"/>
                </a:solidFill>
                <a:latin typeface="Aptos"/>
              </a:rPr>
              <a:t>Small change → fair test → evidence → keep/rollback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84632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3F7FC"/>
                </a:solidFill>
                <a:latin typeface="Aptos"/>
              </a:rPr>
              <a:t>Every observation needs source + as-of time + freshness + status.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0D3EE"/>
                </a:solidFill>
                <a:latin typeface="Aptos"/>
              </a:rPr>
              <a:t>SYSTEM3 • NEW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3F7FC"/>
                </a:solidFill>
                <a:latin typeface="Aptos"/>
              </a:rPr>
              <a:t>How to read a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8CC"/>
                </a:solidFill>
                <a:latin typeface="Aptos"/>
              </a:rPr>
              <a:t>Educational guide • generated 2026-08-27 • not proof of current runtime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647395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8D782"/>
                </a:solidFill>
                <a:latin typeface="Aptos"/>
              </a:rPr>
              <a:t>LIVE OFF • PAPER / ANALYZE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3493008" cy="169164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80160"/>
            <a:ext cx="64008" cy="1691640"/>
          </a:xfrm>
          <a:prstGeom prst="rect">
            <a:avLst/>
          </a:prstGeom>
          <a:solidFill>
            <a:srgbClr val="18D782"/>
          </a:solidFill>
          <a:ln>
            <a:solidFill>
              <a:srgbClr val="18D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44751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8D782"/>
                </a:solidFill>
                <a:latin typeface="Aptos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1444751"/>
            <a:ext cx="270662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01952"/>
            <a:ext cx="3054096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The named check is proven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1280160"/>
            <a:ext cx="3493008" cy="169164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53128" y="1280160"/>
            <a:ext cx="64008" cy="1691640"/>
          </a:xfrm>
          <a:prstGeom prst="rect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444751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A524"/>
                </a:solidFill>
                <a:latin typeface="Aptos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1444751"/>
            <a:ext cx="2706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PARTIAL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1901952"/>
            <a:ext cx="3054096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Some proof works; gaps remain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11896" y="1280160"/>
            <a:ext cx="3493008" cy="169164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11896" y="1280160"/>
            <a:ext cx="64008" cy="1691640"/>
          </a:xfrm>
          <a:prstGeom prst="rect">
            <a:avLst/>
          </a:prstGeom>
          <a:solidFill>
            <a:srgbClr val="FF4964"/>
          </a:solidFill>
          <a:ln>
            <a:solidFill>
              <a:srgbClr val="FF4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1444751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4964"/>
                </a:solidFill>
                <a:latin typeface="Aptos"/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1444751"/>
            <a:ext cx="2706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FAIL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0496" y="1901952"/>
            <a:ext cx="3054096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The check ran and found wrongness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429000"/>
            <a:ext cx="3493008" cy="169164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429000"/>
            <a:ext cx="64008" cy="169164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59359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855F7"/>
                </a:solidFill>
                <a:latin typeface="Aptos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593592"/>
            <a:ext cx="270662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BLOCKED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050791"/>
            <a:ext cx="3054096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A required dependency is missing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53128" y="3429000"/>
            <a:ext cx="3493008" cy="169164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53128" y="3429000"/>
            <a:ext cx="64008" cy="1691640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59359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8CFF"/>
                </a:solidFill>
                <a:latin typeface="Aptos"/>
              </a:rP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593592"/>
            <a:ext cx="2706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WAITING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1728" y="4050791"/>
            <a:ext cx="3054096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Work/state is not finished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11896" y="3429000"/>
            <a:ext cx="3493008" cy="169164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11896" y="3429000"/>
            <a:ext cx="64008" cy="1691640"/>
          </a:xfrm>
          <a:prstGeom prst="rect">
            <a:avLst/>
          </a:prstGeom>
          <a:solidFill>
            <a:srgbClr val="A7B8CC"/>
          </a:solidFill>
          <a:ln>
            <a:solidFill>
              <a:srgbClr val="A7B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76488" y="359359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7B8CC"/>
                </a:solidFill>
                <a:latin typeface="Aptos"/>
              </a:rPr>
              <a:t>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33688" y="3593592"/>
            <a:ext cx="2706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STALE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0496" y="4050791"/>
            <a:ext cx="3054096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Evidence is too old for ‘now’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0D3EE"/>
                </a:solidFill>
                <a:latin typeface="Aptos"/>
              </a:rPr>
              <a:t>SYSTEM3 • NEW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3F7FC"/>
                </a:solidFill>
                <a:latin typeface="Aptos"/>
              </a:rPr>
              <a:t>When a box is empty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8CC"/>
                </a:solidFill>
                <a:latin typeface="Aptos"/>
              </a:rPr>
              <a:t>Educational guide • generated 2026-08-27 • not proof of current runtime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647395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8D782"/>
                </a:solidFill>
                <a:latin typeface="Aptos"/>
              </a:rPr>
              <a:t>LIVE OFF • PAPER / ANALYZE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F3F7FC"/>
                </a:solidFill>
                <a:latin typeface="Aptos"/>
              </a:rPr>
              <a:t>EMPTY ≠ ZERO ≠ BROKEN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48840"/>
            <a:ext cx="3493008" cy="118872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148840"/>
            <a:ext cx="64008" cy="1188720"/>
          </a:xfrm>
          <a:prstGeom prst="rect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1343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A524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2313432"/>
            <a:ext cx="270662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70632"/>
            <a:ext cx="305409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8CC"/>
                </a:solidFill>
                <a:latin typeface="Aptos"/>
              </a:rPr>
              <a:t>Which API/file/provider?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3128" y="2148840"/>
            <a:ext cx="3493008" cy="118872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53128" y="2148840"/>
            <a:ext cx="64008" cy="1188720"/>
          </a:xfrm>
          <a:prstGeom prst="rect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31343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A524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313432"/>
            <a:ext cx="2706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770632"/>
            <a:ext cx="305409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8CC"/>
                </a:solidFill>
                <a:latin typeface="Aptos"/>
              </a:rPr>
              <a:t>When was it observed?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11896" y="2148840"/>
            <a:ext cx="3493008" cy="118872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11896" y="2148840"/>
            <a:ext cx="64008" cy="1188720"/>
          </a:xfrm>
          <a:prstGeom prst="rect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6488" y="231343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A524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3688" y="2313432"/>
            <a:ext cx="2706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MARKET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0496" y="2770632"/>
            <a:ext cx="305409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8CC"/>
                </a:solidFill>
                <a:latin typeface="Aptos"/>
              </a:rPr>
              <a:t>Open, closed, holiday?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721608"/>
            <a:ext cx="3493008" cy="118872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3721608"/>
            <a:ext cx="64008" cy="1188720"/>
          </a:xfrm>
          <a:prstGeom prst="rect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3886200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A524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3886200"/>
            <a:ext cx="270662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ERROR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343400"/>
            <a:ext cx="305409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8CC"/>
                </a:solidFill>
                <a:latin typeface="Aptos"/>
              </a:rPr>
              <a:t>401, 404, 429, 5xx?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3128" y="3721608"/>
            <a:ext cx="3493008" cy="118872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53128" y="3721608"/>
            <a:ext cx="64008" cy="1188720"/>
          </a:xfrm>
          <a:prstGeom prst="rect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3886200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A524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3886200"/>
            <a:ext cx="2706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LINEAGE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4343400"/>
            <a:ext cx="305409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8CC"/>
                </a:solidFill>
                <a:latin typeface="Aptos"/>
              </a:rPr>
              <a:t>Can the row be traced?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11896" y="3721608"/>
            <a:ext cx="3493008" cy="118872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11896" y="3721608"/>
            <a:ext cx="64008" cy="1188720"/>
          </a:xfrm>
          <a:prstGeom prst="rect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76488" y="3886200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A524"/>
                </a:solidFill>
                <a:latin typeface="Aptos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33688" y="3886200"/>
            <a:ext cx="2706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LABEL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0496" y="4343400"/>
            <a:ext cx="305409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8CC"/>
                </a:solidFill>
                <a:latin typeface="Aptos"/>
              </a:rPr>
              <a:t>EMPTY, WAITING, STALE, ERROR?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5623560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4964"/>
                </a:solidFill>
                <a:latin typeface="Aptos"/>
              </a:rPr>
              <a:t>Never invent synthetic values and call them live.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0D3EE"/>
                </a:solidFill>
                <a:latin typeface="Aptos"/>
              </a:rPr>
              <a:t>SYSTEM3 • NEW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3F7FC"/>
                </a:solidFill>
                <a:latin typeface="Aptos"/>
              </a:rPr>
              <a:t>Prediction: a fair science contest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8CC"/>
                </a:solidFill>
                <a:latin typeface="Aptos"/>
              </a:rPr>
              <a:t>Educational guide • generated 2026-08-27 • not proof of current runtime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647395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8D782"/>
                </a:solidFill>
                <a:latin typeface="Aptos"/>
              </a:rPr>
              <a:t>LIVE OFF • PAPER / ANALYZE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1417320" cy="749808"/>
          </a:xfrm>
          <a:prstGeom prst="roundRect">
            <a:avLst/>
          </a:prstGeom>
          <a:solidFill>
            <a:srgbClr val="0F1F31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673352"/>
            <a:ext cx="12710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3F7FC"/>
                </a:solidFill>
                <a:latin typeface="Aptos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6420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7B8CC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1463040"/>
            <a:ext cx="1417320" cy="749808"/>
          </a:xfrm>
          <a:prstGeom prst="roundRect">
            <a:avLst/>
          </a:prstGeom>
          <a:solidFill>
            <a:srgbClr val="0F1F31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21992" y="1673352"/>
            <a:ext cx="12710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3F7FC"/>
                </a:solidFill>
                <a:latin typeface="Aptos"/>
              </a:rPr>
              <a:t>LINEAGE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66420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7B8C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1463040"/>
            <a:ext cx="1417320" cy="749808"/>
          </a:xfrm>
          <a:prstGeom prst="roundRect">
            <a:avLst/>
          </a:prstGeom>
          <a:solidFill>
            <a:srgbClr val="0F1F31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67912" y="1673352"/>
            <a:ext cx="12710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3F7FC"/>
                </a:solidFill>
                <a:latin typeface="Aptos"/>
              </a:rPr>
              <a:t>FEATURE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66420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7B8CC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80" y="1463040"/>
            <a:ext cx="1417320" cy="749808"/>
          </a:xfrm>
          <a:prstGeom prst="roundRect">
            <a:avLst/>
          </a:prstGeom>
          <a:solidFill>
            <a:srgbClr val="0F1F31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13832" y="1673352"/>
            <a:ext cx="12710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3F7FC"/>
                </a:solidFill>
                <a:latin typeface="Aptos"/>
              </a:rPr>
              <a:t>LEAKAGE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66420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7B8CC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86600" y="1463040"/>
            <a:ext cx="1417320" cy="749808"/>
          </a:xfrm>
          <a:prstGeom prst="roundRect">
            <a:avLst/>
          </a:prstGeom>
          <a:solidFill>
            <a:srgbClr val="0F1F31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59752" y="1673352"/>
            <a:ext cx="12710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3F7FC"/>
                </a:solidFill>
                <a:latin typeface="Aptos"/>
              </a:rPr>
              <a:t>LABEL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166420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7B8CC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1463040"/>
            <a:ext cx="1417320" cy="749808"/>
          </a:xfrm>
          <a:prstGeom prst="roundRect">
            <a:avLst/>
          </a:prstGeom>
          <a:solidFill>
            <a:srgbClr val="0F1F31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05672" y="1673352"/>
            <a:ext cx="12710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3F7FC"/>
                </a:solidFill>
                <a:latin typeface="Aptos"/>
              </a:rPr>
              <a:t>TOURNAMENT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166420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7B8CC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78440" y="1463040"/>
            <a:ext cx="1417320" cy="749808"/>
          </a:xfrm>
          <a:prstGeom prst="roundRect">
            <a:avLst/>
          </a:prstGeom>
          <a:solidFill>
            <a:srgbClr val="0F1F31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51592" y="1673352"/>
            <a:ext cx="12710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3F7FC"/>
                </a:solidFill>
                <a:latin typeface="Aptos"/>
              </a:rPr>
              <a:t>OOS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2880360"/>
            <a:ext cx="1417320" cy="749808"/>
          </a:xfrm>
          <a:prstGeom prst="roundRect">
            <a:avLst/>
          </a:prstGeom>
          <a:solidFill>
            <a:srgbClr val="0F1F31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3090672"/>
            <a:ext cx="12710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3F7FC"/>
                </a:solidFill>
                <a:latin typeface="Aptos"/>
              </a:rPr>
              <a:t>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08152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7B8CC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48840" y="2880360"/>
            <a:ext cx="1417320" cy="749808"/>
          </a:xfrm>
          <a:prstGeom prst="roundRect">
            <a:avLst/>
          </a:prstGeom>
          <a:solidFill>
            <a:srgbClr val="0F1F31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21992" y="3090672"/>
            <a:ext cx="12710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3F7FC"/>
                </a:solidFill>
                <a:latin typeface="Aptos"/>
              </a:rPr>
              <a:t>CALIBRATION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08152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7B8CC"/>
                </a:solidFill>
                <a:latin typeface="Aptos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94760" y="2880360"/>
            <a:ext cx="1417320" cy="749808"/>
          </a:xfrm>
          <a:prstGeom prst="roundRect">
            <a:avLst/>
          </a:prstGeom>
          <a:solidFill>
            <a:srgbClr val="0F1F31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67912" y="3090672"/>
            <a:ext cx="12710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3F7FC"/>
                </a:solidFill>
                <a:latin typeface="Aptos"/>
              </a:rPr>
              <a:t>ROBUSTNESS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308152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7B8CC"/>
                </a:solidFill>
                <a:latin typeface="Aptos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40680" y="2880360"/>
            <a:ext cx="1417320" cy="749808"/>
          </a:xfrm>
          <a:prstGeom prst="roundRect">
            <a:avLst/>
          </a:prstGeom>
          <a:solidFill>
            <a:srgbClr val="0F1F31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13832" y="3090672"/>
            <a:ext cx="12710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3F7FC"/>
                </a:solidFill>
                <a:latin typeface="Aptos"/>
              </a:rPr>
              <a:t>PAPER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308152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7B8CC"/>
                </a:solidFill>
                <a:latin typeface="Aptos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86600" y="2880360"/>
            <a:ext cx="1417320" cy="749808"/>
          </a:xfrm>
          <a:prstGeom prst="roundRect">
            <a:avLst/>
          </a:prstGeom>
          <a:solidFill>
            <a:srgbClr val="0F1F31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59752" y="3090672"/>
            <a:ext cx="12710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3F7FC"/>
                </a:solidFill>
                <a:latin typeface="Aptos"/>
              </a:rPr>
              <a:t>UI/API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308152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7B8CC"/>
                </a:solidFill>
                <a:latin typeface="Aptos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32520" y="2880360"/>
            <a:ext cx="1417320" cy="749808"/>
          </a:xfrm>
          <a:prstGeom prst="roundRect">
            <a:avLst/>
          </a:prstGeom>
          <a:solidFill>
            <a:srgbClr val="0F1F31"/>
          </a:solidFill>
          <a:ln>
            <a:solidFill>
              <a:srgbClr val="18D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05672" y="3090672"/>
            <a:ext cx="12710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3F7FC"/>
                </a:solidFill>
                <a:latin typeface="Aptos"/>
              </a:rPr>
              <a:t>CHAMPION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434840"/>
            <a:ext cx="201168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0D3EE"/>
                </a:solidFill>
                <a:latin typeface="Aptos"/>
              </a:rPr>
              <a:t>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0432" y="4434840"/>
            <a:ext cx="10076688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3F7FC"/>
                </a:solidFill>
                <a:latin typeface="Aptos"/>
              </a:rPr>
              <a:t>Simple baselines must compete.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4720590"/>
            <a:ext cx="201168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0D3EE"/>
                </a:solidFill>
                <a:latin typeface="Aptos"/>
              </a:rPr>
              <a:t>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70432" y="4720590"/>
            <a:ext cx="10076688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3F7FC"/>
                </a:solidFill>
                <a:latin typeface="Aptos"/>
              </a:rPr>
              <a:t>One accuracy number is never enough.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006340"/>
            <a:ext cx="201168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0D3EE"/>
                </a:solidFill>
                <a:latin typeface="Aptos"/>
              </a:rPr>
              <a:t>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0432" y="5006340"/>
            <a:ext cx="10076688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3F7FC"/>
                </a:solidFill>
                <a:latin typeface="Aptos"/>
              </a:rPr>
              <a:t>Use realistic costs, uncertainty and regime splits.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292090"/>
            <a:ext cx="201168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0D3EE"/>
                </a:solidFill>
                <a:latin typeface="Aptos"/>
              </a:rPr>
              <a:t>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70432" y="5292090"/>
            <a:ext cx="10076688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3F7FC"/>
                </a:solidFill>
                <a:latin typeface="Aptos"/>
              </a:rPr>
              <a:t>Self-learning means bounded retraining—not self-modifying LIVE code.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0D3EE"/>
                </a:solidFill>
                <a:latin typeface="Aptos"/>
              </a:rPr>
              <a:t>SYSTEM3 • NEW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3F7FC"/>
                </a:solidFill>
                <a:latin typeface="Aptos"/>
              </a:rPr>
              <a:t>Developer path: smallest safe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8CC"/>
                </a:solidFill>
                <a:latin typeface="Aptos"/>
              </a:rPr>
              <a:t>Educational guide • generated 2026-08-27 • not proof of current runtime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647395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8D782"/>
                </a:solidFill>
                <a:latin typeface="Aptos"/>
              </a:rPr>
              <a:t>LIVE OFF • PAPER / ANALYZE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965960" cy="1188720"/>
          </a:xfrm>
          <a:prstGeom prst="roundRect">
            <a:avLst/>
          </a:prstGeom>
          <a:solidFill>
            <a:srgbClr val="0F1F31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D3EE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20240"/>
            <a:ext cx="16276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3F7FC"/>
                </a:solidFill>
                <a:latin typeface="Aptos"/>
              </a:rPr>
              <a:t>Verify fresh symptom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417320"/>
            <a:ext cx="1965960" cy="1188720"/>
          </a:xfrm>
          <a:prstGeom prst="roundRect">
            <a:avLst/>
          </a:prstGeom>
          <a:solidFill>
            <a:srgbClr val="0F1F31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554480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D3EE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1920240"/>
            <a:ext cx="16276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3F7FC"/>
                </a:solidFill>
                <a:latin typeface="Aptos"/>
              </a:rPr>
              <a:t>Find root cause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417320"/>
            <a:ext cx="1965960" cy="1188720"/>
          </a:xfrm>
          <a:prstGeom prst="roundRect">
            <a:avLst/>
          </a:prstGeom>
          <a:solidFill>
            <a:srgbClr val="0F1F31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1554480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D3EE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231" y="1920240"/>
            <a:ext cx="16276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3F7FC"/>
                </a:solidFill>
                <a:latin typeface="Aptos"/>
              </a:rPr>
              <a:t>Add regression test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417320"/>
            <a:ext cx="1965960" cy="1188720"/>
          </a:xfrm>
          <a:prstGeom prst="roundRect">
            <a:avLst/>
          </a:prstGeom>
          <a:solidFill>
            <a:srgbClr val="0F1F31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1554480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D3EE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1" y="1920240"/>
            <a:ext cx="16276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3F7FC"/>
                </a:solidFill>
                <a:latin typeface="Aptos"/>
              </a:rPr>
              <a:t>Make smallest fix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1417320"/>
            <a:ext cx="1965960" cy="1188720"/>
          </a:xfrm>
          <a:prstGeom prst="roundRect">
            <a:avLst/>
          </a:prstGeom>
          <a:solidFill>
            <a:srgbClr val="0F1F31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1554480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D3EE"/>
                </a:solidFill>
                <a:latin typeface="Apto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57232" y="1920240"/>
            <a:ext cx="16276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3F7FC"/>
                </a:solidFill>
                <a:latin typeface="Aptos"/>
              </a:rPr>
              <a:t>Run focused checks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291839"/>
            <a:ext cx="1965960" cy="1188720"/>
          </a:xfrm>
          <a:prstGeom prst="roundRect">
            <a:avLst/>
          </a:prstGeom>
          <a:solidFill>
            <a:srgbClr val="0F1F31"/>
          </a:solidFill>
          <a:ln>
            <a:solidFill>
              <a:srgbClr val="18D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428999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D3EE"/>
                </a:solidFill>
                <a:latin typeface="Aptos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794759"/>
            <a:ext cx="16276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3F7FC"/>
                </a:solidFill>
                <a:latin typeface="Aptos"/>
              </a:rPr>
              <a:t>Exact-head CI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3291839"/>
            <a:ext cx="1965960" cy="1188720"/>
          </a:xfrm>
          <a:prstGeom prst="roundRect">
            <a:avLst/>
          </a:prstGeom>
          <a:solidFill>
            <a:srgbClr val="0F1F31"/>
          </a:solidFill>
          <a:ln>
            <a:solidFill>
              <a:srgbClr val="18D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3428999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D3EE"/>
                </a:solidFill>
                <a:latin typeface="Aptos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9232" y="3794759"/>
            <a:ext cx="16276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3F7FC"/>
                </a:solidFill>
                <a:latin typeface="Aptos"/>
              </a:rPr>
              <a:t>Merge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0640" y="3291839"/>
            <a:ext cx="1965960" cy="1188720"/>
          </a:xfrm>
          <a:prstGeom prst="roundRect">
            <a:avLst/>
          </a:prstGeom>
          <a:solidFill>
            <a:srgbClr val="0F1F31"/>
          </a:solidFill>
          <a:ln>
            <a:solidFill>
              <a:srgbClr val="18D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7800" y="3428999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D3EE"/>
                </a:solidFill>
                <a:latin typeface="Aptos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85231" y="3794759"/>
            <a:ext cx="16276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3F7FC"/>
                </a:solidFill>
                <a:latin typeface="Aptos"/>
              </a:rPr>
              <a:t>Deploy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0" y="3291839"/>
            <a:ext cx="1965960" cy="1188720"/>
          </a:xfrm>
          <a:prstGeom prst="roundRect">
            <a:avLst/>
          </a:prstGeom>
          <a:solidFill>
            <a:srgbClr val="0F1F31"/>
          </a:solidFill>
          <a:ln>
            <a:solidFill>
              <a:srgbClr val="18D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3800" y="3428999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D3EE"/>
                </a:solidFill>
                <a:latin typeface="Aptos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71231" y="3794759"/>
            <a:ext cx="16276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3F7FC"/>
                </a:solidFill>
                <a:latin typeface="Aptos"/>
              </a:rPr>
              <a:t>New live proof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92640" y="3291839"/>
            <a:ext cx="1965960" cy="1188720"/>
          </a:xfrm>
          <a:prstGeom prst="roundRect">
            <a:avLst/>
          </a:prstGeom>
          <a:solidFill>
            <a:srgbClr val="0F1F31"/>
          </a:solidFill>
          <a:ln>
            <a:solidFill>
              <a:srgbClr val="18D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29800" y="3428999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D3EE"/>
                </a:solidFill>
                <a:latin typeface="Aptos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57232" y="3794759"/>
            <a:ext cx="16276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3F7FC"/>
                </a:solidFill>
                <a:latin typeface="Aptos"/>
              </a:rPr>
              <a:t>Close ledger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440680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5A524"/>
                </a:solidFill>
                <a:latin typeface="Aptos"/>
              </a:rPr>
              <a:t>Green CI proves its tests—not automatically the user-visible result.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0D3EE"/>
                </a:solidFill>
                <a:latin typeface="Aptos"/>
              </a:rPr>
              <a:t>SYSTEM3 • NEW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3F7FC"/>
                </a:solidFill>
                <a:latin typeface="Aptos"/>
              </a:rPr>
              <a:t>Production proof: the same-SHA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8CC"/>
                </a:solidFill>
                <a:latin typeface="Aptos"/>
              </a:rPr>
              <a:t>Educational guide • generated 2026-08-27 • not proof of current runtime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647395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8D782"/>
                </a:solidFill>
                <a:latin typeface="Aptos"/>
              </a:rPr>
              <a:t>LIVE OFF • PAPER / ANALYZE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828800"/>
            <a:ext cx="1664208" cy="2011680"/>
          </a:xfrm>
          <a:prstGeom prst="roundRect">
            <a:avLst/>
          </a:prstGeom>
          <a:solidFill>
            <a:srgbClr val="0F1F31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2148840"/>
            <a:ext cx="1481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3F7FC"/>
                </a:solidFill>
                <a:latin typeface="Aptos"/>
              </a:rPr>
              <a:t>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788920"/>
            <a:ext cx="13898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7B8CC"/>
                </a:solidFill>
                <a:latin typeface="Aptos"/>
              </a:rPr>
              <a:t>Exact head +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578608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0D3EE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1828800"/>
            <a:ext cx="1664208" cy="2011680"/>
          </a:xfrm>
          <a:prstGeom prst="roundRect">
            <a:avLst/>
          </a:prstGeom>
          <a:solidFill>
            <a:srgbClr val="0F1F31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148840"/>
            <a:ext cx="1481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3F7FC"/>
                </a:solidFill>
                <a:latin typeface="Aptos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788920"/>
            <a:ext cx="13898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7B8CC"/>
                </a:solidFill>
                <a:latin typeface="Aptos"/>
              </a:rPr>
              <a:t>Immutable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2578608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0D3EE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828800"/>
            <a:ext cx="1664208" cy="2011680"/>
          </a:xfrm>
          <a:prstGeom prst="roundRect">
            <a:avLst/>
          </a:prstGeom>
          <a:solidFill>
            <a:srgbClr val="0F1F31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8" y="2148840"/>
            <a:ext cx="1481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3F7FC"/>
                </a:solidFill>
                <a:latin typeface="Aptos"/>
              </a:rPr>
              <a:t>CLOUD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788920"/>
            <a:ext cx="13898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7B8CC"/>
                </a:solidFill>
                <a:latin typeface="Aptos"/>
              </a:rPr>
              <a:t>Revision + traffic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0176" y="2578608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0D3EE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1828800"/>
            <a:ext cx="1664208" cy="2011680"/>
          </a:xfrm>
          <a:prstGeom prst="roundRect">
            <a:avLst/>
          </a:prstGeom>
          <a:solidFill>
            <a:srgbClr val="0F1F31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148840"/>
            <a:ext cx="1481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3F7FC"/>
                </a:solidFill>
                <a:latin typeface="Aptos"/>
              </a:rPr>
              <a:t>URL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788920"/>
            <a:ext cx="13898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7B8CC"/>
                </a:solidFill>
                <a:latin typeface="Aptos"/>
              </a:rPr>
              <a:t>Serving SHA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18704" y="2578608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0D3EE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3024" y="1828800"/>
            <a:ext cx="1664208" cy="2011680"/>
          </a:xfrm>
          <a:prstGeom prst="roundRect">
            <a:avLst/>
          </a:prstGeom>
          <a:solidFill>
            <a:srgbClr val="0F1F31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4464" y="2148840"/>
            <a:ext cx="1481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3F7FC"/>
                </a:solidFill>
                <a:latin typeface="Aptos"/>
              </a:rPr>
              <a:t>BROWSER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4" y="2788920"/>
            <a:ext cx="13898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7B8CC"/>
                </a:solidFill>
                <a:latin typeface="Aptos"/>
              </a:rPr>
              <a:t>22 tabs + F12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57232" y="2578608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0D3EE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31552" y="1828800"/>
            <a:ext cx="1664208" cy="2011680"/>
          </a:xfrm>
          <a:prstGeom prst="roundRect">
            <a:avLst/>
          </a:prstGeom>
          <a:solidFill>
            <a:srgbClr val="0F1F31"/>
          </a:solidFill>
          <a:ln>
            <a:solidFill>
              <a:srgbClr val="18D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22992" y="2148840"/>
            <a:ext cx="1481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3F7FC"/>
                </a:solidFill>
                <a:latin typeface="Aptos"/>
              </a:rPr>
              <a:t>SEMANTICS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68712" y="2788920"/>
            <a:ext cx="13898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7B8CC"/>
                </a:solidFill>
                <a:latin typeface="Aptos"/>
              </a:rPr>
              <a:t>UI = API truth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7091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A524"/>
                </a:solidFill>
                <a:latin typeface="Aptos"/>
              </a:rPr>
              <a:t>A pre-fix screenshot becomes history after the fix. Capture again.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0D3EE"/>
                </a:solidFill>
                <a:latin typeface="Aptos"/>
              </a:rPr>
              <a:t>SYSTEM3 • NEW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3F7FC"/>
                </a:solidFill>
                <a:latin typeface="Aptos"/>
              </a:rPr>
              <a:t>Troubleshooting without guessing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8CC"/>
                </a:solidFill>
                <a:latin typeface="Aptos"/>
              </a:rPr>
              <a:t>Educational guide • generated 2026-08-27 • not proof of current runtime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647395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8D782"/>
                </a:solidFill>
                <a:latin typeface="Aptos"/>
              </a:rPr>
              <a:t>LIVE OFF • PAPER / ANALYZE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3493008" cy="169164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80160"/>
            <a:ext cx="64008" cy="1691640"/>
          </a:xfrm>
          <a:prstGeom prst="rect">
            <a:avLst/>
          </a:prstGeom>
          <a:solidFill>
            <a:srgbClr val="FF4964"/>
          </a:solidFill>
          <a:ln>
            <a:solidFill>
              <a:srgbClr val="FF4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44751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4964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1444751"/>
            <a:ext cx="270662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401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01952"/>
            <a:ext cx="3054096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Authentication/session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1280160"/>
            <a:ext cx="3493008" cy="169164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53128" y="1280160"/>
            <a:ext cx="64008" cy="1691640"/>
          </a:xfrm>
          <a:prstGeom prst="rect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444751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A524"/>
                </a:solidFill>
                <a:latin typeface="Aptos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1444751"/>
            <a:ext cx="2706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404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1901952"/>
            <a:ext cx="3054096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Route not present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11896" y="1280160"/>
            <a:ext cx="3493008" cy="169164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11896" y="1280160"/>
            <a:ext cx="64008" cy="1691640"/>
          </a:xfrm>
          <a:prstGeom prst="rect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1444751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A524"/>
                </a:solidFill>
                <a:latin typeface="Aptos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1444751"/>
            <a:ext cx="2706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429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0496" y="1901952"/>
            <a:ext cx="3054096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Rate limit/backoff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429000"/>
            <a:ext cx="3493008" cy="169164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429000"/>
            <a:ext cx="64008" cy="1691640"/>
          </a:xfrm>
          <a:prstGeom prst="rect">
            <a:avLst/>
          </a:prstGeom>
          <a:solidFill>
            <a:srgbClr val="FF4964"/>
          </a:solidFill>
          <a:ln>
            <a:solidFill>
              <a:srgbClr val="FF4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59359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4964"/>
                </a:solidFill>
                <a:latin typeface="Aptos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593592"/>
            <a:ext cx="270662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5xx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050791"/>
            <a:ext cx="3054096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Server failure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53128" y="3429000"/>
            <a:ext cx="3493008" cy="169164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53128" y="3429000"/>
            <a:ext cx="64008" cy="1691640"/>
          </a:xfrm>
          <a:prstGeom prst="rect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59359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A524"/>
                </a:solidFill>
                <a:latin typeface="Aptos"/>
              </a:rPr>
              <a:t>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593592"/>
            <a:ext cx="2706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TIMEOUT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1728" y="4050791"/>
            <a:ext cx="3054096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Network/service delay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11896" y="3429000"/>
            <a:ext cx="3493008" cy="169164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11896" y="3429000"/>
            <a:ext cx="64008" cy="1691640"/>
          </a:xfrm>
          <a:prstGeom prst="rect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76488" y="359359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A524"/>
                </a:solidFill>
                <a:latin typeface="Aptos"/>
              </a:rPr>
              <a:t>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33688" y="3593592"/>
            <a:ext cx="2706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STALE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0496" y="4050791"/>
            <a:ext cx="3054096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Old data/evidence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0D3EE"/>
                </a:solidFill>
                <a:latin typeface="Aptos"/>
              </a:rPr>
              <a:t>SYSTEM3 • NEW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3F7FC"/>
                </a:solidFill>
                <a:latin typeface="Aptos"/>
              </a:rPr>
              <a:t>Secrets and red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8CC"/>
                </a:solidFill>
                <a:latin typeface="Aptos"/>
              </a:rPr>
              <a:t>Educational guide • generated 2026-08-27 • not proof of current runtime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647395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8D782"/>
                </a:solidFill>
                <a:latin typeface="Aptos"/>
              </a:rPr>
              <a:t>LIVE OFF • PAPER / ANALYZE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71600"/>
            <a:ext cx="5230368" cy="425196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64008" cy="4251960"/>
          </a:xfrm>
          <a:prstGeom prst="rect">
            <a:avLst/>
          </a:prstGeom>
          <a:solidFill>
            <a:srgbClr val="18D782"/>
          </a:solidFill>
          <a:ln>
            <a:solidFill>
              <a:srgbClr val="18D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53619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8D782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536192"/>
            <a:ext cx="44439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93392"/>
            <a:ext cx="4791456" cy="3502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7B8CC"/>
                </a:solidFill>
                <a:latin typeface="Aptos"/>
              </a:rPr>
              <a:t>Use .env.example as a template
Use approved secret stores
Redact logs and screenshots
Use Dhan read-only checks
Use WIF for GitHub → GCP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371600"/>
            <a:ext cx="5230368" cy="425196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1371600"/>
            <a:ext cx="64008" cy="4251960"/>
          </a:xfrm>
          <a:prstGeom prst="rect">
            <a:avLst/>
          </a:prstGeom>
          <a:solidFill>
            <a:srgbClr val="FF4964"/>
          </a:solidFill>
          <a:ln>
            <a:solidFill>
              <a:srgbClr val="FF4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153619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4964"/>
                </a:solidFill>
                <a:latin typeface="Aptos"/>
              </a:rPr>
              <a:t>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2864" y="1536192"/>
            <a:ext cx="44439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DO NOT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1993392"/>
            <a:ext cx="4791456" cy="3502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7B8CC"/>
                </a:solidFill>
                <a:latin typeface="Aptos"/>
              </a:rPr>
              <a:t>Paste broker tokens in chat
Commit credentials
Create service-account JSON keys
Enable LIVE or auto-execute
Place, change, cancel or square-off real orders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0D3EE"/>
                </a:solidFill>
                <a:latin typeface="Aptos"/>
              </a:rPr>
              <a:t>SYSTEM3 • NEW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3F7FC"/>
                </a:solidFill>
                <a:latin typeface="Aptos"/>
              </a:rPr>
              <a:t>Use the CSV as your master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8CC"/>
                </a:solidFill>
                <a:latin typeface="Aptos"/>
              </a:rPr>
              <a:t>Educational guide • generated 2026-08-27 • not proof of current runtime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647395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8D782"/>
                </a:solidFill>
                <a:latin typeface="Aptos"/>
              </a:rPr>
              <a:t>LIVE OFF • PAPER / ANALYZE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25880"/>
            <a:ext cx="3657600" cy="452628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25880"/>
            <a:ext cx="64008" cy="4526280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49047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8C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90472"/>
            <a:ext cx="28712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47672"/>
            <a:ext cx="3218688" cy="3776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7B8CC"/>
                </a:solidFill>
                <a:latin typeface="Aptos"/>
              </a:rPr>
              <a:t>Audience
Journey stage
Category
Dashboard tab
Status word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325880"/>
            <a:ext cx="3657600" cy="452628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325880"/>
            <a:ext cx="64008" cy="4526280"/>
          </a:xfrm>
          <a:prstGeom prst="rect">
            <a:avLst/>
          </a:prstGeom>
          <a:solidFill>
            <a:srgbClr val="20D3EE"/>
          </a:solidFill>
          <a:ln>
            <a:solidFill>
              <a:srgbClr val="20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149047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0D3EE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72" y="1490472"/>
            <a:ext cx="28712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FOLLOW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947672"/>
            <a:ext cx="3218688" cy="3776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7B8CC"/>
                </a:solidFill>
                <a:latin typeface="Aptos"/>
              </a:rPr>
              <a:t>Kid-level goal
When to use
Simple steps
Inputs and outputs
Safety boundary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94192" y="1325880"/>
            <a:ext cx="3154680" cy="4526280"/>
          </a:xfrm>
          <a:prstGeom prst="roundRect">
            <a:avLst/>
          </a:prstGeom>
          <a:solidFill>
            <a:srgbClr val="0F1F31"/>
          </a:solidFill>
          <a:ln>
            <a:solidFill>
              <a:srgbClr val="1E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94192" y="1325880"/>
            <a:ext cx="64008" cy="4526280"/>
          </a:xfrm>
          <a:prstGeom prst="rect">
            <a:avLst/>
          </a:prstGeom>
          <a:solidFill>
            <a:srgbClr val="18D782"/>
          </a:solidFill>
          <a:ln>
            <a:solidFill>
              <a:srgbClr val="18D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58784" y="1490472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8D782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5984" y="1490472"/>
            <a:ext cx="23682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2792" y="1947672"/>
            <a:ext cx="2715768" cy="3776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7B8CC"/>
                </a:solidFill>
                <a:latin typeface="Aptos"/>
              </a:rPr>
              <a:t>Acceptance check
Authority source
User action
Keep the UC ID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0D3EE"/>
                </a:solidFill>
                <a:latin typeface="Aptos"/>
              </a:rPr>
              <a:t>SYSTEM3 • NEW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3F7FC"/>
                </a:solidFill>
                <a:latin typeface="Aptos"/>
              </a:rPr>
              <a:t>The tiny cheat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8CC"/>
                </a:solidFill>
                <a:latin typeface="Aptos"/>
              </a:rPr>
              <a:t>Educational guide • generated 2026-08-27 • not proof of current runtime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647395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8D782"/>
                </a:solidFill>
                <a:latin typeface="Aptos"/>
              </a:rPr>
              <a:t>LIVE OFF • PAPER / ANALYZE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201168" cy="7239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D3EE"/>
                </a:solidFill>
                <a:latin typeface="Aptos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325880"/>
            <a:ext cx="10076688" cy="7239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3F7FC"/>
                </a:solidFill>
                <a:latin typeface="Aptos"/>
              </a:rPr>
              <a:t>Start with Overview, Truth and Gates.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49780"/>
            <a:ext cx="201168" cy="7239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D3EE"/>
                </a:solidFill>
                <a:latin typeface="Aptos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049780"/>
            <a:ext cx="10076688" cy="7239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3F7FC"/>
                </a:solidFill>
                <a:latin typeface="Aptos"/>
              </a:rPr>
              <a:t>For ‘now’, create fresh browser + API evidence.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3680"/>
            <a:ext cx="201168" cy="7239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D3EE"/>
                </a:solidFill>
                <a:latin typeface="Aptos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773680"/>
            <a:ext cx="10076688" cy="7239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3F7FC"/>
                </a:solidFill>
                <a:latin typeface="Aptos"/>
              </a:rPr>
              <a:t>For market work, stay PAPER / ANALYZE only.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97580"/>
            <a:ext cx="201168" cy="7239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D3EE"/>
                </a:solidFill>
                <a:latin typeface="Aptos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497580"/>
            <a:ext cx="10076688" cy="7239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3F7FC"/>
                </a:solidFill>
                <a:latin typeface="Aptos"/>
              </a:rPr>
              <a:t>For blank data, check source, time, market and errors.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1480"/>
            <a:ext cx="201168" cy="7239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D3EE"/>
                </a:solidFill>
                <a:latin typeface="Aptos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4221480"/>
            <a:ext cx="10076688" cy="7239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3F7FC"/>
                </a:solidFill>
                <a:latin typeface="Aptos"/>
              </a:rPr>
              <a:t>For code, prove → test → smallest fix → CI → deploy → prove again.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45380"/>
            <a:ext cx="201168" cy="7239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D3EE"/>
                </a:solidFill>
                <a:latin typeface="Aptos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4945380"/>
            <a:ext cx="10076688" cy="7239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3F7FC"/>
                </a:solidFill>
                <a:latin typeface="Aptos"/>
              </a:rPr>
              <a:t>Ask the user only for genuine account-level or break-glass actions.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71500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8D782"/>
                </a:solidFill>
                <a:latin typeface="Aptos"/>
              </a:rPr>
              <a:t>LOOK → THINK → PRACTICE → PROVE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CFF"/>
          </a:solidFill>
          <a:ln>
            <a:solidFill>
              <a:srgbClr val="3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0D3EE"/>
                </a:solidFill>
                <a:latin typeface="Aptos"/>
              </a:rPr>
              <a:t>SYSTEM3 • NEW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3F7FC"/>
                </a:solidFill>
                <a:latin typeface="Aptos"/>
              </a:rPr>
              <a:t>Authority and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8CC"/>
                </a:solidFill>
                <a:latin typeface="Aptos"/>
              </a:rPr>
              <a:t>Educational guide • generated 2026-08-27 • not proof of current runtime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647395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8D782"/>
                </a:solidFill>
                <a:latin typeface="Aptos"/>
              </a:rPr>
              <a:t>LIVE OFF • PAPER / ANALYZE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98448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3F7FC"/>
                </a:solidFill>
                <a:latin typeface="Aptos"/>
              </a:rPr>
              <a:t>Primary current authorities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01168" cy="586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0D3EE"/>
                </a:solidFill>
                <a:latin typeface="Aptos"/>
              </a:rP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783080"/>
            <a:ext cx="4681728" cy="586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AGENTS.md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69820"/>
            <a:ext cx="201168" cy="586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0D3EE"/>
                </a:solidFill>
                <a:latin typeface="Aptos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369820"/>
            <a:ext cx="4681728" cy="586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System3 Agent Runbook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56560"/>
            <a:ext cx="201168" cy="586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0D3EE"/>
                </a:solidFill>
                <a:latin typeface="Aptos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956560"/>
            <a:ext cx="4681728" cy="586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Temporal Truth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43300"/>
            <a:ext cx="201168" cy="586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0D3EE"/>
                </a:solidFill>
                <a:latin typeface="Aptos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543300"/>
            <a:ext cx="4681728" cy="586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Autonomous Operations 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30040"/>
            <a:ext cx="201168" cy="586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0D3EE"/>
                </a:solidFill>
                <a:latin typeface="Aptos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130040"/>
            <a:ext cx="4681728" cy="586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Master Goal 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16780"/>
            <a:ext cx="201168" cy="586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0D3EE"/>
                </a:solidFill>
                <a:latin typeface="Aptos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4716780"/>
            <a:ext cx="4681728" cy="586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Prediction Benchmark policy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298448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3F7FC"/>
                </a:solidFill>
                <a:latin typeface="Aptos"/>
              </a:rPr>
              <a:t>This package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783080"/>
            <a:ext cx="20116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8D782"/>
                </a:solidFill>
                <a:latin typeface="Aptos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1783080"/>
            <a:ext cx="491032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Teaches safe use; it does not certify live health.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487168"/>
            <a:ext cx="20116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8D782"/>
                </a:solidFill>
                <a:latin typeface="Aptos"/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487168"/>
            <a:ext cx="491032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Covers all 22 canonical tabs and major repo workflows.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191256"/>
            <a:ext cx="20116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8D782"/>
                </a:solidFill>
                <a:latin typeface="Aptos"/>
              </a:rPr>
              <a:t>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3191256"/>
            <a:ext cx="491032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Generated from repository sources on 2026-08-27.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895344"/>
            <a:ext cx="20116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8D782"/>
                </a:solidFill>
                <a:latin typeface="Aptos"/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3895344"/>
            <a:ext cx="491032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Revalidate URLs, commands and runtime claims when used.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599432"/>
            <a:ext cx="20116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8D782"/>
                </a:solidFill>
                <a:latin typeface="Aptos"/>
              </a:rP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599432"/>
            <a:ext cx="491032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CSV row IDs provide the detailed checklist.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715000"/>
            <a:ext cx="10652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A524"/>
                </a:solidFill>
                <a:latin typeface="Aptos"/>
              </a:rPr>
              <a:t>Repository authority: psw2025-cmd/Genesis_System3 • Runtime: GCP system3-openalgo-safe / asia-south1 / genesis-system3-web • Broker: Dhan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4964"/>
          </a:solidFill>
          <a:ln>
            <a:solidFill>
              <a:srgbClr val="FF4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A524"/>
                </a:solidFill>
                <a:latin typeface="Aptos"/>
              </a:rPr>
              <a:t>SYSTEM3 • STORAGE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3F7FC"/>
                </a:solidFill>
                <a:latin typeface="Aptos"/>
              </a:rPr>
              <a:t>WARNING: Ephemeral Cloud Storage &amp; Data Wipes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429000" cy="3566160"/>
          </a:xfrm>
          <a:prstGeom prst="roundRect">
            <a:avLst/>
          </a:prstGeom>
          <a:solidFill>
            <a:srgbClr val="0F1F31"/>
          </a:solidFill>
          <a:ln>
            <a:solidFill>
              <a:srgbClr val="FF4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WHAT HAPPENS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2971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Cloud Run's normal container disk is temporary. A restart, new instance, or deployment can remove CSV/JSON files written inside the container.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508760"/>
            <a:ext cx="3429000" cy="3566160"/>
          </a:xfrm>
          <a:prstGeom prst="roundRect">
            <a:avLst/>
          </a:prstGeom>
          <a:solidFill>
            <a:srgbClr val="0F1F31"/>
          </a:solidFill>
          <a:ln>
            <a:solidFill>
              <a:srgbClr val="20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73736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WHAT SURVIVES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2331720"/>
            <a:ext cx="2971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Only data explicitly written to a durable service—such as the approved Firestore backend—survives. A file path named state/ is not automatically durable.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0727" y="1508760"/>
            <a:ext cx="3429000" cy="3566160"/>
          </a:xfrm>
          <a:prstGeom prst="roundRect">
            <a:avLst/>
          </a:prstGeom>
          <a:solidFill>
            <a:srgbClr val="0F1F31"/>
          </a:solidFill>
          <a:ln>
            <a:solidFill>
              <a:srgbClr val="18D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7" y="173736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3F7FC"/>
                </a:solidFill>
                <a:latin typeface="Aptos"/>
              </a:rPr>
              <a:t>WHAT TO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2331720"/>
            <a:ext cx="2971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7B8CC"/>
                </a:solidFill>
                <a:latin typeface="Aptos"/>
              </a:rPr>
              <a:t>Trace both writer and reader. Confirm they use the same durable key/schema. Show EMPTY or BLOCKED honestly when lineage is missing; never manufacture market or ML proof.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532120"/>
            <a:ext cx="10469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A524"/>
                </a:solidFill>
                <a:latin typeface="Aptos"/>
              </a:rPr>
              <a:t>Kid rule: a file inside the cloud box is like writing on a foggy window—it can disappear. Put important proof in the durable notebook.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7B8CC"/>
                </a:solidFill>
                <a:latin typeface="Aptos"/>
              </a:rPr>
              <a:t>Educational warning • no LIVE/order permission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64465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D782"/>
                </a:solidFill>
                <a:latin typeface="Aptos"/>
              </a:rPr>
              <a:t>LIVE OFF • PAPER / ANALYZE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